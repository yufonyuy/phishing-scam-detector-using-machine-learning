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380DB3C-C2FC-4DB4-B2B5-6CC1F49406A9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Annoncez le nom du projet, votre slogan, votre équipe et le défi choisi. 20 secondes maximum.</a:t>
            </a:r>
          </a:p>
        </p:txBody>
      </p:sp>
      <p:sp>
        <p:nvSpPr>
          <p:cNvPr id="16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336B32-0DB3-4D7B-8250-0421EDE81518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Rendez le problème concret et humain. Un chiffre marquant capte l'attention du jury.</a:t>
            </a:r>
          </a:p>
        </p:txBody>
      </p:sp>
      <p:sp>
        <p:nvSpPr>
          <p:cNvPr id="16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7848C3-E3E4-43FA-AE56-79491E86FD71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Une phrase claire vaut mieux qu'un long discours. Mettez en avant 3 bénéfices concrets.</a:t>
            </a:r>
          </a:p>
        </p:txBody>
      </p:sp>
      <p:sp>
        <p:nvSpPr>
          <p:cNvPr id="16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C05B5B-D1BE-43D3-AAEF-78B6C5446DE7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C'est le cœur du pitch. Préparez un parcours de démo fluide et une capture d'écran de secours.</a:t>
            </a:r>
          </a:p>
        </p:txBody>
      </p:sp>
      <p:sp>
        <p:nvSpPr>
          <p:cNvPr id="16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A7195A-F574-4672-9757-D8D5165C21CA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Slide indispensable. Expliquez concrètement votre brique cyber et le bénéfice pour l'utilisatrice. 20 points en dépendent.</a:t>
            </a:r>
          </a:p>
        </p:txBody>
      </p:sp>
      <p:sp>
        <p:nvSpPr>
          <p:cNvPr id="17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92F70C-FD24-43D2-9034-6D4AF176340A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Montrez que le problème touche beaucoup de monde et que votre impact est réel, y compris sur la sécurité numérique.</a:t>
            </a:r>
          </a:p>
        </p:txBody>
      </p:sp>
      <p:sp>
        <p:nvSpPr>
          <p:cNvPr id="17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1C0FD9-AEF1-4E44-9A0A-7658141A478A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Un modèle simple et crédible suffit. Dites clairement ce qui vous différencie.</a:t>
            </a:r>
          </a:p>
        </p:txBody>
      </p:sp>
      <p:sp>
        <p:nvSpPr>
          <p:cNvPr id="17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3A4085-AC1C-424D-985B-F8BCC0F82C95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Présentez rapidement chaque membre et son rôle. Ajoutez ou retirez des cartes selon la taille de l'équipe.</a:t>
            </a:r>
          </a:p>
        </p:txBody>
      </p:sp>
      <p:sp>
        <p:nvSpPr>
          <p:cNvPr id="18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C73063-F24B-411C-9640-CE06A6E8614B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Terminez par une demande claire et un vrai merci. C'est votre dernière impression : soignez-la.</a:t>
            </a:r>
          </a:p>
        </p:txBody>
      </p:sp>
      <p:sp>
        <p:nvSpPr>
          <p:cNvPr id="18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63FBDC-3AE8-44E5-8BA0-462399D8566F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/mnt/user-data/uploads/Picture1.png"/>
          <p:cNvPicPr/>
          <p:nvPr/>
        </p:nvPicPr>
        <p:blipFill>
          <a:blip r:embed="rId3"/>
          <a:stretch/>
        </p:blipFill>
        <p:spPr>
          <a:xfrm>
            <a:off x="548640" y="457200"/>
            <a:ext cx="1009800" cy="1004760"/>
          </a:xfrm>
          <a:prstGeom prst="rect">
            <a:avLst/>
          </a:prstGeom>
          <a:ln w="0">
            <a:noFill/>
          </a:ln>
        </p:spPr>
      </p:pic>
      <p:sp>
        <p:nvSpPr>
          <p:cNvPr id="47" name="Text 0"/>
          <p:cNvSpPr/>
          <p:nvPr/>
        </p:nvSpPr>
        <p:spPr>
          <a:xfrm>
            <a:off x="567000" y="1965960"/>
            <a:ext cx="105145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2">
                <a:solidFill>
                  <a:srgbClr val="C8930A"/>
                </a:solidFill>
                <a:latin typeface="Tahoma"/>
                <a:ea typeface="Tahoma"/>
              </a:rPr>
              <a:t>2ND HACKATHON CAMEROONIAN GIRLS IN STEAM · GIRLS IN CYBER DEFENSE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48640" y="2286000"/>
            <a:ext cx="1097172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rgbClr val="0B7040"/>
                </a:solidFill>
                <a:latin typeface="Tahoma"/>
                <a:ea typeface="Tahoma"/>
              </a:rPr>
              <a:t>PhishLense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567000" y="342900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strike="noStrike" spc="-1">
                <a:solidFill>
                  <a:srgbClr val="5C6B62"/>
                </a:solidFill>
                <a:latin typeface="Tahoma"/>
                <a:ea typeface="Tahoma"/>
              </a:rPr>
              <a:t>A prototype for detecting smishing now, expanding next to phishing links, websites, and deepfakes.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548640" y="4503960"/>
            <a:ext cx="7039800" cy="1050480"/>
          </a:xfrm>
          <a:prstGeom prst="roundRect">
            <a:avLst>
              <a:gd name="adj" fmla="val 6957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777240" y="4668480"/>
            <a:ext cx="6582600" cy="72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B7040"/>
                </a:solidFill>
                <a:latin typeface="Tahoma"/>
                <a:ea typeface="Tahoma"/>
              </a:rPr>
              <a:t>👥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Team: Genesys   ·   Challenge: Girls in Cyber Defense   ·   Members: Serge, Noel, Scripture, Aliya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0" y="5715000"/>
            <a:ext cx="1218780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94">
                <a:solidFill>
                  <a:srgbClr val="5C6B62"/>
                </a:solidFill>
                <a:latin typeface="Tahoma"/>
                <a:ea typeface="Tahoma"/>
              </a:rPr>
              <a:t>WITH THE SUPPORT OF OUR PARTNERS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Image 1" descr="/mnt/user-data/uploads/45.png"/>
          <p:cNvPicPr/>
          <p:nvPr/>
        </p:nvPicPr>
        <p:blipFill>
          <a:blip r:embed="rId4"/>
          <a:stretch/>
        </p:blipFill>
        <p:spPr>
          <a:xfrm>
            <a:off x="3168360" y="5989320"/>
            <a:ext cx="5851080" cy="62748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9" descr="TECHNIPOLE-Enspy added a new photo. - TECHNIPOLE-Enspy"/>
          <p:cNvPicPr/>
          <p:nvPr/>
        </p:nvPicPr>
        <p:blipFill>
          <a:blip r:embed="rId5"/>
          <a:stretch/>
        </p:blipFill>
        <p:spPr>
          <a:xfrm>
            <a:off x="1726560" y="524160"/>
            <a:ext cx="870840" cy="87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 descr="/mnt/user-data/uploads/Picture1.png"/>
          <p:cNvPicPr/>
          <p:nvPr/>
        </p:nvPicPr>
        <p:blipFill>
          <a:blip r:embed="rId3"/>
          <a:stretch/>
        </p:blipFill>
        <p:spPr>
          <a:xfrm>
            <a:off x="11155680" y="411480"/>
            <a:ext cx="550080" cy="547560"/>
          </a:xfrm>
          <a:prstGeom prst="rect">
            <a:avLst/>
          </a:prstGeom>
          <a:ln w="0">
            <a:noFill/>
          </a:ln>
        </p:spPr>
      </p:pic>
      <p:sp>
        <p:nvSpPr>
          <p:cNvPr id="56" name="Text 0"/>
          <p:cNvSpPr/>
          <p:nvPr/>
        </p:nvSpPr>
        <p:spPr>
          <a:xfrm>
            <a:off x="567000" y="457200"/>
            <a:ext cx="960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194">
                <a:solidFill>
                  <a:srgbClr val="C8930A"/>
                </a:solidFill>
                <a:latin typeface="Tahoma"/>
                <a:ea typeface="Tahoma"/>
              </a:rPr>
              <a:t>01 · THE PROBLEM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48640" y="749880"/>
            <a:ext cx="1042308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7040"/>
                </a:solidFill>
                <a:latin typeface="Tahoma"/>
                <a:ea typeface="Tahoma"/>
              </a:rPr>
              <a:t>The problem we are solving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548640" y="1691640"/>
            <a:ext cx="6765480" cy="4022280"/>
          </a:xfrm>
          <a:prstGeom prst="roundRect">
            <a:avLst>
              <a:gd name="adj" fmla="val 1818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77240" y="1856160"/>
            <a:ext cx="6308280" cy="369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B7040"/>
                </a:solidFill>
                <a:latin typeface="Tahoma"/>
                <a:ea typeface="Tahoma"/>
              </a:rPr>
              <a:t>⚠️  </a:t>
            </a:r>
            <a:r>
              <a:rPr lang="en-US" sz="1600" b="0" i="1" strike="noStrike" spc="-1" dirty="0">
                <a:solidFill>
                  <a:srgbClr val="5C6B62"/>
                </a:solidFill>
                <a:latin typeface="Tahoma"/>
                <a:ea typeface="Tahoma"/>
              </a:rPr>
              <a:t>Phishing has moved beyond email — into SMS, links, fake websites, and deepfakes.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 dirty="0">
                <a:solidFill>
                  <a:srgbClr val="5C6B62"/>
                </a:solidFill>
                <a:latin typeface="Tahoma"/>
                <a:ea typeface="Tahoma"/>
              </a:rPr>
              <a:t>Users react fast, because scam messages look urgent, familiar, or trusted.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 dirty="0">
                <a:solidFill>
                  <a:srgbClr val="5C6B62"/>
                </a:solidFill>
                <a:latin typeface="Tahoma"/>
                <a:ea typeface="Tahoma"/>
              </a:rPr>
              <a:t>In Cameroon, online scams and phishing continue to cause major financial losses.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7543800" y="1691640"/>
            <a:ext cx="4095360" cy="4022280"/>
          </a:xfrm>
          <a:prstGeom prst="roundRect">
            <a:avLst>
              <a:gd name="adj" fmla="val 1818"/>
            </a:avLst>
          </a:prstGeom>
          <a:solidFill>
            <a:srgbClr val="FFF6DD"/>
          </a:solidFill>
          <a:ln w="9525">
            <a:solidFill>
              <a:srgbClr val="C893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7772400" y="1856160"/>
            <a:ext cx="3638160" cy="369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8930A"/>
                </a:solidFill>
                <a:latin typeface="Tahoma"/>
                <a:ea typeface="Tahoma"/>
              </a:rPr>
              <a:t>💸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A striking figure: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0B7040"/>
                </a:solidFill>
                <a:latin typeface="Tahoma"/>
                <a:ea typeface="Tahoma"/>
              </a:rPr>
              <a:t>1.027 billion CFA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C6B62"/>
                </a:solidFill>
                <a:latin typeface="Tahoma"/>
                <a:ea typeface="Tahoma"/>
              </a:rPr>
              <a:t>lost to online scams in Cameroon in 2025.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548640" y="64191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94AA"/>
                </a:solidFill>
                <a:latin typeface="Tahoma"/>
                <a:ea typeface="Tahoma"/>
              </a:rPr>
              <a:t>2nd Hackathon Cameroonian Girls in STEAM · Girls in Cyber Defense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10195560" y="6346080"/>
            <a:ext cx="1461960" cy="36468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10195560" y="634608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8930A"/>
                </a:solidFill>
                <a:latin typeface="Tahoma"/>
                <a:ea typeface="Tahoma"/>
              </a:rPr>
              <a:t>⏱  ≈ 45 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0" descr="/mnt/user-data/uploads/Picture1.png"/>
          <p:cNvPicPr/>
          <p:nvPr/>
        </p:nvPicPr>
        <p:blipFill>
          <a:blip r:embed="rId3"/>
          <a:stretch/>
        </p:blipFill>
        <p:spPr>
          <a:xfrm>
            <a:off x="11155680" y="411480"/>
            <a:ext cx="550080" cy="547560"/>
          </a:xfrm>
          <a:prstGeom prst="rect">
            <a:avLst/>
          </a:prstGeom>
          <a:ln w="0">
            <a:noFill/>
          </a:ln>
        </p:spPr>
      </p:pic>
      <p:sp>
        <p:nvSpPr>
          <p:cNvPr id="66" name="Text 0"/>
          <p:cNvSpPr/>
          <p:nvPr/>
        </p:nvSpPr>
        <p:spPr>
          <a:xfrm>
            <a:off x="567000" y="457200"/>
            <a:ext cx="960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194">
                <a:solidFill>
                  <a:srgbClr val="C8930A"/>
                </a:solidFill>
                <a:latin typeface="Tahoma"/>
                <a:ea typeface="Tahoma"/>
              </a:rPr>
              <a:t>02 · THE SOLUTION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48640" y="749880"/>
            <a:ext cx="1042308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7040"/>
                </a:solidFill>
                <a:latin typeface="Tahoma"/>
                <a:ea typeface="Tahoma"/>
              </a:rPr>
              <a:t>Our solution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548640" y="1691640"/>
            <a:ext cx="11090520" cy="1370520"/>
          </a:xfrm>
          <a:prstGeom prst="roundRect">
            <a:avLst>
              <a:gd name="adj" fmla="val 5333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777240" y="1856160"/>
            <a:ext cx="10633320" cy="104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B7040"/>
                </a:solidFill>
                <a:latin typeface="Tahoma"/>
                <a:ea typeface="Tahoma"/>
              </a:rPr>
              <a:t>💡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In one sentence: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PhishLense is a working cybersecurity prototype that detects smishing messages and is designed to grow into phishing link and deepfake detection.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548640" y="3291840"/>
            <a:ext cx="3482640" cy="2422080"/>
          </a:xfrm>
          <a:prstGeom prst="roundRect">
            <a:avLst>
              <a:gd name="adj" fmla="val 3019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777240" y="3456360"/>
            <a:ext cx="3025440" cy="209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B7040"/>
                </a:solidFill>
                <a:latin typeface="Tahoma"/>
                <a:ea typeface="Tahoma"/>
              </a:rPr>
              <a:t>🔔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Benefit 1: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Warns users before they click, reply, or share sensitive information.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4352400" y="3291840"/>
            <a:ext cx="3482640" cy="2422080"/>
          </a:xfrm>
          <a:prstGeom prst="roundRect">
            <a:avLst>
              <a:gd name="adj" fmla="val 3019"/>
            </a:avLst>
          </a:prstGeom>
          <a:solidFill>
            <a:srgbClr val="FFF6DD"/>
          </a:solidFill>
          <a:ln w="9525">
            <a:solidFill>
              <a:srgbClr val="C893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4581000" y="3456360"/>
            <a:ext cx="3025440" cy="209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8930A"/>
                </a:solidFill>
                <a:latin typeface="Tahoma"/>
                <a:ea typeface="Tahoma"/>
              </a:rPr>
              <a:t>🎯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Benefit 2: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Gives a label, a confidence score, and a simple explanation.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8156520" y="3291840"/>
            <a:ext cx="3482640" cy="2422080"/>
          </a:xfrm>
          <a:prstGeom prst="roundRect">
            <a:avLst>
              <a:gd name="adj" fmla="val 3019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8385120" y="3456360"/>
            <a:ext cx="3025440" cy="209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B7040"/>
                </a:solidFill>
                <a:latin typeface="Tahoma"/>
                <a:ea typeface="Tahoma"/>
              </a:rPr>
              <a:t>🙌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Benefit 3: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Built for real users, not only for technical demonstrations.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548640" y="64191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94AA"/>
                </a:solidFill>
                <a:latin typeface="Tahoma"/>
                <a:ea typeface="Tahoma"/>
              </a:rPr>
              <a:t>2nd Hackathon Cameroonian Girls in STEAM · Girls in Cyber Defense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10195560" y="6346080"/>
            <a:ext cx="1461960" cy="36468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10195560" y="634608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8930A"/>
                </a:solidFill>
                <a:latin typeface="Tahoma"/>
                <a:ea typeface="Tahoma"/>
              </a:rPr>
              <a:t>⏱  ≈ 45 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/mnt/user-data/uploads/Picture1.png"/>
          <p:cNvPicPr/>
          <p:nvPr/>
        </p:nvPicPr>
        <p:blipFill>
          <a:blip r:embed="rId3"/>
          <a:stretch/>
        </p:blipFill>
        <p:spPr>
          <a:xfrm>
            <a:off x="11155680" y="411480"/>
            <a:ext cx="550080" cy="547560"/>
          </a:xfrm>
          <a:prstGeom prst="rect">
            <a:avLst/>
          </a:prstGeom>
          <a:ln w="0">
            <a:noFill/>
          </a:ln>
        </p:spPr>
      </p:pic>
      <p:sp>
        <p:nvSpPr>
          <p:cNvPr id="80" name="Text 0"/>
          <p:cNvSpPr/>
          <p:nvPr/>
        </p:nvSpPr>
        <p:spPr>
          <a:xfrm>
            <a:off x="567000" y="457200"/>
            <a:ext cx="960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194">
                <a:solidFill>
                  <a:srgbClr val="C8930A"/>
                </a:solidFill>
                <a:latin typeface="Tahoma"/>
                <a:ea typeface="Tahoma"/>
              </a:rPr>
              <a:t>03 · DEMONSTRATION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48640" y="749880"/>
            <a:ext cx="1042308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7040"/>
                </a:solidFill>
                <a:latin typeface="Tahoma"/>
                <a:ea typeface="Tahoma"/>
              </a:rPr>
              <a:t>Here is our prototype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548640" y="1691640"/>
            <a:ext cx="7679880" cy="4022280"/>
          </a:xfrm>
          <a:prstGeom prst="roundRect">
            <a:avLst>
              <a:gd name="adj" fmla="val 2273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3977640" y="2514600"/>
            <a:ext cx="867600" cy="867600"/>
          </a:xfrm>
          <a:prstGeom prst="ellipse">
            <a:avLst/>
          </a:prstGeom>
          <a:solidFill>
            <a:srgbClr val="0B7040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1" descr="preencoded.png"/>
          <p:cNvPicPr/>
          <p:nvPr/>
        </p:nvPicPr>
        <p:blipFill>
          <a:blip r:embed="rId4"/>
          <a:stretch/>
        </p:blipFill>
        <p:spPr>
          <a:xfrm>
            <a:off x="4197240" y="2734200"/>
            <a:ext cx="428760" cy="428760"/>
          </a:xfrm>
          <a:prstGeom prst="rect">
            <a:avLst/>
          </a:prstGeom>
          <a:ln w="0">
            <a:noFill/>
          </a:ln>
        </p:spPr>
      </p:pic>
      <p:sp>
        <p:nvSpPr>
          <p:cNvPr id="85" name="Text 4"/>
          <p:cNvSpPr/>
          <p:nvPr/>
        </p:nvSpPr>
        <p:spPr>
          <a:xfrm>
            <a:off x="914400" y="3657600"/>
            <a:ext cx="694836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[ Insert a screenshot of your prototype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or switch to a live demo ]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8412480" y="1691640"/>
            <a:ext cx="3226680" cy="4022280"/>
          </a:xfrm>
          <a:prstGeom prst="roundRect">
            <a:avLst>
              <a:gd name="adj" fmla="val 2833"/>
            </a:avLst>
          </a:prstGeom>
          <a:solidFill>
            <a:srgbClr val="0B70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8732520" y="1965960"/>
            <a:ext cx="639000" cy="639000"/>
          </a:xfrm>
          <a:prstGeom prst="ellipse">
            <a:avLst/>
          </a:prstGeom>
          <a:solidFill>
            <a:srgbClr val="FFC107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2" descr="preencoded.png"/>
          <p:cNvPicPr/>
          <p:nvPr/>
        </p:nvPicPr>
        <p:blipFill>
          <a:blip r:embed="rId5"/>
          <a:stretch/>
        </p:blipFill>
        <p:spPr>
          <a:xfrm>
            <a:off x="8888040" y="212148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89" name="Text 7"/>
          <p:cNvSpPr/>
          <p:nvPr/>
        </p:nvSpPr>
        <p:spPr>
          <a:xfrm>
            <a:off x="9555480" y="2011680"/>
            <a:ext cx="201060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Tahoma"/>
                <a:ea typeface="Tahoma"/>
              </a:rPr>
              <a:t>The highlight moment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8686800" y="2834640"/>
            <a:ext cx="2742120" cy="27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lang="en-US" sz="1400" b="0" strike="noStrike" spc="-1">
                <a:solidFill>
                  <a:srgbClr val="FFFFFF"/>
                </a:solidFill>
                <a:latin typeface="Tahoma"/>
                <a:ea typeface="Tahoma"/>
              </a:rPr>
              <a:t>Paste a message.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lang="en-US" sz="1400" b="0" strike="noStrike" spc="-1">
                <a:solidFill>
                  <a:srgbClr val="FFFFFF"/>
                </a:solidFill>
                <a:latin typeface="Tahoma"/>
                <a:ea typeface="Tahoma"/>
              </a:rPr>
              <a:t>Show the prediction.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lang="en-US" sz="1400" b="0" strike="noStrike" spc="-1">
                <a:solidFill>
                  <a:srgbClr val="FFFFFF"/>
                </a:solidFill>
                <a:latin typeface="Tahoma"/>
                <a:ea typeface="Tahoma"/>
              </a:rPr>
              <a:t>Show the explanation.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/>
              <a:buChar char=""/>
            </a:pPr>
            <a:r>
              <a:rPr lang="en-US" sz="1400" b="0" strike="noStrike" spc="-1">
                <a:solidFill>
                  <a:srgbClr val="FFFFFF"/>
                </a:solidFill>
                <a:latin typeface="Tahoma"/>
                <a:ea typeface="Tahoma"/>
              </a:rPr>
              <a:t>Use the backup screenshot if needed.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548640" y="64191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94AA"/>
                </a:solidFill>
                <a:latin typeface="Tahoma"/>
                <a:ea typeface="Tahoma"/>
              </a:rPr>
              <a:t>2nd Hackathon Cameroonian Girls in STEAM · Girls in Cyber Defense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10195560" y="6346080"/>
            <a:ext cx="1461960" cy="36468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10195560" y="634608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8930A"/>
                </a:solidFill>
                <a:latin typeface="Tahoma"/>
                <a:ea typeface="Tahoma"/>
              </a:rPr>
              <a:t>⏱  ≈ 90 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Picture 93"/>
          <p:cNvPicPr/>
          <p:nvPr/>
        </p:nvPicPr>
        <p:blipFill>
          <a:blip r:embed="rId6"/>
          <a:stretch/>
        </p:blipFill>
        <p:spPr>
          <a:xfrm>
            <a:off x="548640" y="1691640"/>
            <a:ext cx="7748280" cy="4023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 0" descr="/mnt/user-data/uploads/Picture1.png"/>
          <p:cNvPicPr/>
          <p:nvPr/>
        </p:nvPicPr>
        <p:blipFill>
          <a:blip r:embed="rId3"/>
          <a:stretch/>
        </p:blipFill>
        <p:spPr>
          <a:xfrm>
            <a:off x="11155680" y="411480"/>
            <a:ext cx="550080" cy="547560"/>
          </a:xfrm>
          <a:prstGeom prst="rect">
            <a:avLst/>
          </a:prstGeom>
          <a:ln w="0">
            <a:noFill/>
          </a:ln>
        </p:spPr>
      </p:pic>
      <p:sp>
        <p:nvSpPr>
          <p:cNvPr id="96" name="Text 0"/>
          <p:cNvSpPr/>
          <p:nvPr/>
        </p:nvSpPr>
        <p:spPr>
          <a:xfrm>
            <a:off x="567000" y="457200"/>
            <a:ext cx="960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194">
                <a:solidFill>
                  <a:srgbClr val="C8930A"/>
                </a:solidFill>
                <a:latin typeface="Tahoma"/>
                <a:ea typeface="Tahoma"/>
              </a:rPr>
              <a:t>04 · THE HEART OF THE HACKATHON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2379796" y="779361"/>
            <a:ext cx="685093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B7040"/>
                </a:solidFill>
                <a:latin typeface="Tahoma"/>
                <a:ea typeface="Tahoma"/>
              </a:rPr>
              <a:t>Our cybersecurity component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2151196" y="1883340"/>
            <a:ext cx="7679880" cy="4022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026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2379796" y="2047860"/>
            <a:ext cx="7222680" cy="369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E02620"/>
                </a:solidFill>
                <a:latin typeface="Tahoma"/>
                <a:ea typeface="Tahoma"/>
              </a:rPr>
              <a:t>🔐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AI-based detection flags suspicious SMS, fake URLs, and phishing sites in real time.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Warns users before they click, log in, or send money — stopping social engineering in its tracks.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Explains clearly why a message, link, or site is risky.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Teaches users over time — every alert builds scam awareness.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548640" y="64191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94AA"/>
                </a:solidFill>
                <a:latin typeface="Tahoma"/>
                <a:ea typeface="Tahoma"/>
              </a:rPr>
              <a:t>2nd Hackathon Cameroonian Girls in STEAM · Girls in Cyber Defense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10195560" y="6346080"/>
            <a:ext cx="1461960" cy="36468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10195560" y="634608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8930A"/>
                </a:solidFill>
                <a:latin typeface="Tahoma"/>
                <a:ea typeface="Tahoma"/>
              </a:rPr>
              <a:t>⏱  ≈ 45 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Badge Circle"/>
          <p:cNvSpPr/>
          <p:nvPr/>
        </p:nvSpPr>
        <p:spPr>
          <a:xfrm>
            <a:off x="1183156" y="687510"/>
            <a:ext cx="822600" cy="822600"/>
          </a:xfrm>
          <a:prstGeom prst="ellipse">
            <a:avLst/>
          </a:prstGeom>
          <a:solidFill>
            <a:srgbClr val="F4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Badge Shield Icon" descr="preencoded.png"/>
          <p:cNvPicPr/>
          <p:nvPr/>
        </p:nvPicPr>
        <p:blipFill>
          <a:blip r:embed="rId4"/>
          <a:stretch/>
        </p:blipFill>
        <p:spPr>
          <a:xfrm>
            <a:off x="1391236" y="895590"/>
            <a:ext cx="406440" cy="406440"/>
          </a:xfrm>
          <a:prstGeom prst="rect">
            <a:avLst/>
          </a:prstGeom>
          <a:ln w="0">
            <a:noFill/>
          </a:ln>
        </p:spPr>
      </p:pic>
      <p:sp>
        <p:nvSpPr>
          <p:cNvPr id="105" name="Badge Title"/>
          <p:cNvSpPr/>
          <p:nvPr/>
        </p:nvSpPr>
        <p:spPr>
          <a:xfrm>
            <a:off x="8549640" y="3108960"/>
            <a:ext cx="3093480" cy="94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5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Badge Reminder"/>
          <p:cNvSpPr/>
          <p:nvPr/>
        </p:nvSpPr>
        <p:spPr>
          <a:xfrm>
            <a:off x="8869680" y="4559040"/>
            <a:ext cx="2453400" cy="11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15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/mnt/user-data/uploads/Picture1.png"/>
          <p:cNvPicPr/>
          <p:nvPr/>
        </p:nvPicPr>
        <p:blipFill>
          <a:blip r:embed="rId3"/>
          <a:stretch/>
        </p:blipFill>
        <p:spPr>
          <a:xfrm>
            <a:off x="11155680" y="411480"/>
            <a:ext cx="550080" cy="547560"/>
          </a:xfrm>
          <a:prstGeom prst="rect">
            <a:avLst/>
          </a:prstGeom>
          <a:ln w="0">
            <a:noFill/>
          </a:ln>
        </p:spPr>
      </p:pic>
      <p:sp>
        <p:nvSpPr>
          <p:cNvPr id="108" name="Text 0"/>
          <p:cNvSpPr/>
          <p:nvPr/>
        </p:nvSpPr>
        <p:spPr>
          <a:xfrm>
            <a:off x="567000" y="457200"/>
            <a:ext cx="960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194">
                <a:solidFill>
                  <a:srgbClr val="C8930A"/>
                </a:solidFill>
                <a:latin typeface="Tahoma"/>
                <a:ea typeface="Tahoma"/>
              </a:rPr>
              <a:t>05 · MARKET &amp; IMPACT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48640" y="749880"/>
            <a:ext cx="1042308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7040"/>
                </a:solidFill>
                <a:latin typeface="Tahoma"/>
                <a:ea typeface="Tahoma"/>
              </a:rPr>
              <a:t>For whom, and what impact?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548640" y="1691640"/>
            <a:ext cx="5393880" cy="4022280"/>
          </a:xfrm>
          <a:prstGeom prst="roundRect">
            <a:avLst>
              <a:gd name="adj" fmla="val 1818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777240" y="1856160"/>
            <a:ext cx="4936680" cy="369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B7040"/>
                </a:solidFill>
                <a:latin typeface="Tahoma"/>
                <a:ea typeface="Tahoma"/>
              </a:rPr>
              <a:t>👥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For whom?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PhishLense is for mobile users, students, families, and small businesses.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Also built for developers and organizations integrating our API.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This expands the product from a simple app into a reusable security tool.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6245280" y="1691640"/>
            <a:ext cx="5393880" cy="4022280"/>
          </a:xfrm>
          <a:prstGeom prst="roundRect">
            <a:avLst>
              <a:gd name="adj" fmla="val 1818"/>
            </a:avLst>
          </a:prstGeom>
          <a:solidFill>
            <a:srgbClr val="FFF6DD"/>
          </a:solidFill>
          <a:ln w="9525">
            <a:solidFill>
              <a:srgbClr val="C893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6473880" y="1856160"/>
            <a:ext cx="4936680" cy="369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8930A"/>
                </a:solidFill>
                <a:latin typeface="Tahoma"/>
                <a:ea typeface="Tahoma"/>
              </a:rPr>
              <a:t>📈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What impact?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PhishLense warns users before they click, reply, or pay, helping stop scams early.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Clear risk signals teach users to spot scams themselves.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This can reduce fraud, protect money, and improve digital trust in everyday phone use.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548640" y="64191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94AA"/>
                </a:solidFill>
                <a:latin typeface="Tahoma"/>
                <a:ea typeface="Tahoma"/>
              </a:rPr>
              <a:t>2nd Hackathon Cameroonian Girls in STEAM · Girls in Cyber Defense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7"/>
          <p:cNvSpPr/>
          <p:nvPr/>
        </p:nvSpPr>
        <p:spPr>
          <a:xfrm>
            <a:off x="10195560" y="6346080"/>
            <a:ext cx="1461960" cy="36468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10195560" y="634608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8930A"/>
                </a:solidFill>
                <a:latin typeface="Tahoma"/>
                <a:ea typeface="Tahoma"/>
              </a:rPr>
              <a:t>⏱  ≈ 30 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Image 0" descr="/mnt/user-data/uploads/Picture1.png"/>
          <p:cNvPicPr/>
          <p:nvPr/>
        </p:nvPicPr>
        <p:blipFill>
          <a:blip r:embed="rId3"/>
          <a:stretch/>
        </p:blipFill>
        <p:spPr>
          <a:xfrm>
            <a:off x="11155680" y="411480"/>
            <a:ext cx="550080" cy="547560"/>
          </a:xfrm>
          <a:prstGeom prst="rect">
            <a:avLst/>
          </a:prstGeom>
          <a:ln w="0">
            <a:noFill/>
          </a:ln>
        </p:spPr>
      </p:pic>
      <p:sp>
        <p:nvSpPr>
          <p:cNvPr id="118" name="Text 0"/>
          <p:cNvSpPr/>
          <p:nvPr/>
        </p:nvSpPr>
        <p:spPr>
          <a:xfrm>
            <a:off x="567000" y="457200"/>
            <a:ext cx="960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194">
                <a:solidFill>
                  <a:srgbClr val="C8930A"/>
                </a:solidFill>
                <a:latin typeface="Tahoma"/>
                <a:ea typeface="Tahoma"/>
              </a:rPr>
              <a:t>06 · MODEL &amp; DIFFERENTIATION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48640" y="749880"/>
            <a:ext cx="1042308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7040"/>
                </a:solidFill>
                <a:latin typeface="Tahoma"/>
                <a:ea typeface="Tahoma"/>
              </a:rPr>
              <a:t>Viable and unique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548640" y="1691640"/>
            <a:ext cx="5393880" cy="4022280"/>
          </a:xfrm>
          <a:prstGeom prst="roundRect">
            <a:avLst>
              <a:gd name="adj" fmla="val 1818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777240" y="1856160"/>
            <a:ext cx="4936680" cy="369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B7040"/>
                </a:solidFill>
                <a:latin typeface="Tahoma"/>
                <a:ea typeface="Tahoma"/>
              </a:rPr>
              <a:t>💰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How is it adopted / funded?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Free app for individuals.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Paid API access for developers and organizations.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Revenue from subscriptions, enterprise licenses, and custom integrations.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This makes PhishLense both a standalone app and a security layer inside other systems.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6245280" y="1691640"/>
            <a:ext cx="5393880" cy="4022280"/>
          </a:xfrm>
          <a:prstGeom prst="roundRect">
            <a:avLst>
              <a:gd name="adj" fmla="val 1818"/>
            </a:avLst>
          </a:prstGeom>
          <a:solidFill>
            <a:srgbClr val="FFF6DD"/>
          </a:solidFill>
          <a:ln w="9525">
            <a:solidFill>
              <a:srgbClr val="C893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6473880" y="1856160"/>
            <a:ext cx="4936680" cy="369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8930A"/>
                </a:solidFill>
                <a:latin typeface="Tahoma"/>
                <a:ea typeface="Tahoma"/>
              </a:rPr>
              <a:t>⭐  </a:t>
            </a: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What makes you unique?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Trained on Cameroon-relevant data.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Built to support bilingual use.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Detects SMS scams, fake URLs, phishing websites, and future deepfake threats.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Helps users learn by explaining why content is suspicious.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548640" y="64191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94AA"/>
                </a:solidFill>
                <a:latin typeface="Tahoma"/>
                <a:ea typeface="Tahoma"/>
              </a:rPr>
              <a:t>2nd Hackathon Cameroonian Girls in STEAM · Girls in Cyber Defense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10195560" y="6346080"/>
            <a:ext cx="1461960" cy="36468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10195560" y="634608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8930A"/>
                </a:solidFill>
                <a:latin typeface="Tahoma"/>
                <a:ea typeface="Tahoma"/>
              </a:rPr>
              <a:t>⏱  ≈ 30 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 0" descr="/mnt/user-data/uploads/Picture1.png"/>
          <p:cNvPicPr/>
          <p:nvPr/>
        </p:nvPicPr>
        <p:blipFill>
          <a:blip r:embed="rId3"/>
          <a:stretch/>
        </p:blipFill>
        <p:spPr>
          <a:xfrm>
            <a:off x="11155680" y="411480"/>
            <a:ext cx="550080" cy="547560"/>
          </a:xfrm>
          <a:prstGeom prst="rect">
            <a:avLst/>
          </a:prstGeom>
          <a:ln w="0">
            <a:noFill/>
          </a:ln>
        </p:spPr>
      </p:pic>
      <p:sp>
        <p:nvSpPr>
          <p:cNvPr id="128" name="Text 0"/>
          <p:cNvSpPr/>
          <p:nvPr/>
        </p:nvSpPr>
        <p:spPr>
          <a:xfrm>
            <a:off x="567000" y="457200"/>
            <a:ext cx="960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194">
                <a:solidFill>
                  <a:srgbClr val="C8930A"/>
                </a:solidFill>
                <a:latin typeface="Tahoma"/>
                <a:ea typeface="Tahoma"/>
              </a:rPr>
              <a:t>07 · THE TEAM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48640" y="749880"/>
            <a:ext cx="1042308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7040"/>
                </a:solidFill>
                <a:latin typeface="Tahoma"/>
                <a:ea typeface="Tahoma"/>
              </a:rPr>
              <a:t>Who we are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548640" y="1783080"/>
            <a:ext cx="2531880" cy="3747960"/>
          </a:xfrm>
          <a:prstGeom prst="roundRect">
            <a:avLst>
              <a:gd name="adj" fmla="val 3610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1266480" y="2103120"/>
            <a:ext cx="1096200" cy="1096200"/>
          </a:xfrm>
          <a:prstGeom prst="ellipse">
            <a:avLst/>
          </a:prstGeom>
          <a:solidFill>
            <a:srgbClr val="0B7040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Image 1" descr="preencoded.png"/>
          <p:cNvPicPr/>
          <p:nvPr/>
        </p:nvPicPr>
        <p:blipFill>
          <a:blip r:embed="rId4"/>
          <a:stretch/>
        </p:blipFill>
        <p:spPr>
          <a:xfrm>
            <a:off x="1540800" y="23774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133" name="Text 4"/>
          <p:cNvSpPr/>
          <p:nvPr/>
        </p:nvSpPr>
        <p:spPr>
          <a:xfrm>
            <a:off x="640080" y="3383280"/>
            <a:ext cx="2349000" cy="146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Serge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Coordinator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3401640" y="1783080"/>
            <a:ext cx="2531880" cy="3747960"/>
          </a:xfrm>
          <a:prstGeom prst="roundRect">
            <a:avLst>
              <a:gd name="adj" fmla="val 3610"/>
            </a:avLst>
          </a:prstGeom>
          <a:solidFill>
            <a:srgbClr val="FFF6DD"/>
          </a:solidFill>
          <a:ln w="9525">
            <a:solidFill>
              <a:srgbClr val="C893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4119480" y="2103120"/>
            <a:ext cx="1096200" cy="1096200"/>
          </a:xfrm>
          <a:prstGeom prst="ellipse">
            <a:avLst/>
          </a:prstGeom>
          <a:solidFill>
            <a:srgbClr val="FFC107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Image 2" descr="preencoded.png"/>
          <p:cNvPicPr/>
          <p:nvPr/>
        </p:nvPicPr>
        <p:blipFill>
          <a:blip r:embed="rId4"/>
          <a:stretch/>
        </p:blipFill>
        <p:spPr>
          <a:xfrm>
            <a:off x="4393800" y="23774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137" name="Text 7"/>
          <p:cNvSpPr/>
          <p:nvPr/>
        </p:nvSpPr>
        <p:spPr>
          <a:xfrm>
            <a:off x="3493080" y="3383280"/>
            <a:ext cx="2349000" cy="146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Noel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Developer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8"/>
          <p:cNvSpPr/>
          <p:nvPr/>
        </p:nvSpPr>
        <p:spPr>
          <a:xfrm>
            <a:off x="6254640" y="1783080"/>
            <a:ext cx="2531880" cy="3747960"/>
          </a:xfrm>
          <a:prstGeom prst="roundRect">
            <a:avLst>
              <a:gd name="adj" fmla="val 3610"/>
            </a:avLst>
          </a:prstGeom>
          <a:solidFill>
            <a:srgbClr val="EAF4EE"/>
          </a:solidFill>
          <a:ln w="9525">
            <a:solidFill>
              <a:srgbClr val="0B7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6972480" y="2103120"/>
            <a:ext cx="1096200" cy="1096200"/>
          </a:xfrm>
          <a:prstGeom prst="ellipse">
            <a:avLst/>
          </a:prstGeom>
          <a:solidFill>
            <a:srgbClr val="0B7040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Image 3" descr="preencoded.png"/>
          <p:cNvPicPr/>
          <p:nvPr/>
        </p:nvPicPr>
        <p:blipFill>
          <a:blip r:embed="rId4"/>
          <a:stretch/>
        </p:blipFill>
        <p:spPr>
          <a:xfrm>
            <a:off x="7246800" y="23774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141" name="Text 10"/>
          <p:cNvSpPr/>
          <p:nvPr/>
        </p:nvSpPr>
        <p:spPr>
          <a:xfrm>
            <a:off x="6346080" y="3383280"/>
            <a:ext cx="2349000" cy="146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Scripture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Model Training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9107280" y="1783080"/>
            <a:ext cx="2531880" cy="3747960"/>
          </a:xfrm>
          <a:prstGeom prst="roundRect">
            <a:avLst>
              <a:gd name="adj" fmla="val 3610"/>
            </a:avLst>
          </a:prstGeom>
          <a:solidFill>
            <a:srgbClr val="FFF6DD"/>
          </a:solidFill>
          <a:ln w="9525">
            <a:solidFill>
              <a:srgbClr val="C893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9825120" y="2103120"/>
            <a:ext cx="1096200" cy="1096200"/>
          </a:xfrm>
          <a:prstGeom prst="ellipse">
            <a:avLst/>
          </a:prstGeom>
          <a:solidFill>
            <a:srgbClr val="FFC107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4" descr="preencoded.png"/>
          <p:cNvPicPr/>
          <p:nvPr/>
        </p:nvPicPr>
        <p:blipFill>
          <a:blip r:embed="rId4"/>
          <a:stretch/>
        </p:blipFill>
        <p:spPr>
          <a:xfrm>
            <a:off x="10099440" y="23774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145" name="Text 13"/>
          <p:cNvSpPr/>
          <p:nvPr/>
        </p:nvSpPr>
        <p:spPr>
          <a:xfrm>
            <a:off x="9198720" y="3383280"/>
            <a:ext cx="2349000" cy="146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Aliya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62"/>
                </a:solidFill>
                <a:latin typeface="Tahoma"/>
                <a:ea typeface="Tahoma"/>
              </a:rPr>
              <a:t>Data Mining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548640" y="64191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94AA"/>
                </a:solidFill>
                <a:latin typeface="Tahoma"/>
                <a:ea typeface="Tahoma"/>
              </a:rPr>
              <a:t>2nd Hackathon Cameroonian Girls in STEAM · Girls in Cyber Defense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5"/>
          <p:cNvSpPr/>
          <p:nvPr/>
        </p:nvSpPr>
        <p:spPr>
          <a:xfrm>
            <a:off x="10195560" y="6346080"/>
            <a:ext cx="1461960" cy="36468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10195560" y="634608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8930A"/>
                </a:solidFill>
                <a:latin typeface="Tahoma"/>
                <a:ea typeface="Tahoma"/>
              </a:rPr>
              <a:t>⏱  ≈ 20 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7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0" descr="/mnt/user-data/uploads/Picture1.png"/>
          <p:cNvPicPr/>
          <p:nvPr/>
        </p:nvPicPr>
        <p:blipFill>
          <a:blip r:embed="rId3"/>
          <a:stretch/>
        </p:blipFill>
        <p:spPr>
          <a:xfrm>
            <a:off x="548640" y="457200"/>
            <a:ext cx="917640" cy="913320"/>
          </a:xfrm>
          <a:prstGeom prst="rect">
            <a:avLst/>
          </a:prstGeom>
          <a:ln w="0">
            <a:noFill/>
          </a:ln>
        </p:spPr>
      </p:pic>
      <p:sp>
        <p:nvSpPr>
          <p:cNvPr id="150" name="Text 0"/>
          <p:cNvSpPr/>
          <p:nvPr/>
        </p:nvSpPr>
        <p:spPr>
          <a:xfrm>
            <a:off x="567000" y="1828800"/>
            <a:ext cx="1005732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194">
                <a:solidFill>
                  <a:srgbClr val="FFE9A8"/>
                </a:solidFill>
                <a:latin typeface="Tahoma"/>
                <a:ea typeface="Tahoma"/>
              </a:rPr>
              <a:t>08 · OUR ASK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2148840"/>
            <a:ext cx="1097172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strike="noStrike" spc="-1">
                <a:solidFill>
                  <a:srgbClr val="FFFFFF"/>
                </a:solidFill>
                <a:latin typeface="Tahoma"/>
                <a:ea typeface="Tahoma"/>
              </a:rPr>
              <a:t>Thank you!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548640" y="3291840"/>
            <a:ext cx="11090520" cy="1370520"/>
          </a:xfrm>
          <a:prstGeom prst="roundRect">
            <a:avLst>
              <a:gd name="adj" fmla="val 6667"/>
            </a:avLst>
          </a:prstGeom>
          <a:solidFill>
            <a:srgbClr val="08502E"/>
          </a:solidFill>
          <a:ln w="9525">
            <a:solidFill>
              <a:srgbClr val="3E8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777240" y="3456360"/>
            <a:ext cx="10605960" cy="10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FC107"/>
                </a:solidFill>
                <a:latin typeface="Tahoma"/>
                <a:ea typeface="Tahoma"/>
              </a:rPr>
              <a:t>🤝  </a:t>
            </a:r>
            <a:r>
              <a:rPr lang="en-US" sz="1600" b="0" i="1" strike="noStrike" spc="-1">
                <a:solidFill>
                  <a:srgbClr val="EAF4EE"/>
                </a:solidFill>
                <a:latin typeface="Tahoma"/>
                <a:ea typeface="Tahoma"/>
              </a:rPr>
              <a:t>We're seeking mentoring, partnership, incubation, and support to grow this prototype into a real product.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548640" y="489204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E9A8"/>
                </a:solidFill>
                <a:latin typeface="Tahoma"/>
                <a:ea typeface="Tahoma"/>
              </a:rPr>
              <a:t>Contact: phishlense@gmail.com  ·  +237671160734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0" y="5669280"/>
            <a:ext cx="1218780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94">
                <a:solidFill>
                  <a:srgbClr val="5C6B62"/>
                </a:solidFill>
                <a:latin typeface="Tahoma"/>
                <a:ea typeface="Tahoma"/>
              </a:rPr>
              <a:t>WITH THE SUPPORT OF OUR PARTNERS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Image 1" descr="/mnt/user-data/uploads/45.png"/>
          <p:cNvPicPr/>
          <p:nvPr/>
        </p:nvPicPr>
        <p:blipFill>
          <a:blip r:embed="rId4"/>
          <a:stretch/>
        </p:blipFill>
        <p:spPr>
          <a:xfrm>
            <a:off x="3351240" y="5943600"/>
            <a:ext cx="5485320" cy="58824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9" descr="TECHNIPOLE-Enspy added a new photo. - TECHNIPOLE-Enspy"/>
          <p:cNvPicPr/>
          <p:nvPr/>
        </p:nvPicPr>
        <p:blipFill>
          <a:blip r:embed="rId5"/>
          <a:stretch/>
        </p:blipFill>
        <p:spPr>
          <a:xfrm>
            <a:off x="1467360" y="457200"/>
            <a:ext cx="917640" cy="91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860</Words>
  <Application>Microsoft Office PowerPoint</Application>
  <PresentationFormat>Widescreen</PresentationFormat>
  <Paragraphs>126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Symbol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Pitch — 2e Hackathon Girls in STEAM</dc:title>
  <dc:subject>PptxGenJS Presentation</dc:subject>
  <dc:creator>Cameroonian Girls in STEAM</dc:creator>
  <dc:description/>
  <cp:lastModifiedBy>Yufonyuy Serge</cp:lastModifiedBy>
  <cp:revision>10</cp:revision>
  <dcterms:created xsi:type="dcterms:W3CDTF">2026-07-01T22:17:19Z</dcterms:created>
  <dcterms:modified xsi:type="dcterms:W3CDTF">2026-07-03T10:58:03Z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Widescreen</vt:lpwstr>
  </property>
  <property fmtid="{D5CDD505-2E9C-101B-9397-08002B2CF9AE}" pid="4" name="Slides">
    <vt:i4>10</vt:i4>
  </property>
</Properties>
</file>