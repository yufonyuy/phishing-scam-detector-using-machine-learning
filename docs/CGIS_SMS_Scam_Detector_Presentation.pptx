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0" y="731520"/>
            <a:ext cx="2148840" cy="21488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389120"/>
            <a:ext cx="1417320" cy="141732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5394960"/>
            <a:ext cx="868680" cy="868680"/>
          </a:xfrm>
          <a:prstGeom prst="ellipse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6928"/>
            <a:ext cx="658368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1" i="0">
                <a:solidFill>
                  <a:srgbClr val="CE1126"/>
                </a:solidFill>
                <a:latin typeface="Aptos"/>
              </a:defRPr>
            </a:pPr>
            <a:r>
              <a:t>CGIS 2026 · Yaoundé Girls in STEAM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78992"/>
            <a:ext cx="7132320" cy="6583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200" b="1" i="0">
                <a:solidFill>
                  <a:srgbClr val="0F172A"/>
                </a:solidFill>
                <a:latin typeface="Aptos"/>
              </a:defRPr>
            </a:pPr>
            <a:r>
              <a:t>SMS Scam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874519"/>
            <a:ext cx="78638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0" i="0">
                <a:solidFill>
                  <a:srgbClr val="1E293B"/>
                </a:solidFill>
                <a:latin typeface="Aptos"/>
              </a:defRPr>
            </a:pPr>
            <a:r>
              <a:t>AI-powered, explainable smishing detection for safer Mobile Money and everyday communication.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7680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ptos"/>
              </a:defRPr>
            </a:pPr>
            <a:r>
              <a:t>Détection explicable des SMS frauduleux pour protéger les familles, élèves et utilisatrices au Cameroun.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154680"/>
            <a:ext cx="32461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1546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8269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29184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Built to demo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593592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prête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840480"/>
            <a:ext cx="2423160" cy="2285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Streamlit app + trained ML pipeline + risk explanations.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822191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Application + modèle + explications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154680"/>
            <a:ext cx="324612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3154680"/>
            <a:ext cx="73152" cy="105156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8264" y="328269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🇨🇲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29184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Built for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3593592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Impact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3840480"/>
            <a:ext cx="2423160" cy="22859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Local examples: Orange Money, MTN MoMo, French and English scams.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822191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Exemples locaux FR/EN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15000"/>
            <a:ext cx="51206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0">
                <a:solidFill>
                  <a:srgbClr val="64748B"/>
                </a:solidFill>
                <a:latin typeface="Aptos"/>
              </a:defRPr>
            </a:pPr>
            <a:r>
              <a:t>Team: [Add team name &amp; members]</a:t>
            </a:r>
            <a:br/>
            <a:r>
              <a:t>ENSPY · July 2, 2026</a:t>
            </a:r>
          </a:p>
        </p:txBody>
      </p:sp>
      <p:sp>
        <p:nvSpPr>
          <p:cNvPr id="28" name="Hexagon 27"/>
          <p:cNvSpPr/>
          <p:nvPr/>
        </p:nvSpPr>
        <p:spPr>
          <a:xfrm>
            <a:off x="9052560" y="1325880"/>
            <a:ext cx="1828800" cy="1828800"/>
          </a:xfrm>
          <a:prstGeom prst="hexagon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1700784"/>
            <a:ext cx="11430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500" b="1" i="0">
                <a:solidFill>
                  <a:srgbClr val="FFFFFF"/>
                </a:solidFill>
                <a:latin typeface="Aptos"/>
              </a:defRPr>
            </a:pPr>
            <a:r>
              <a:t>🛡️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The winning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Notre angle gagnant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Problem that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Problème réel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SMS fraud targets trust, urgency and Mobile Money habits. It is a daily cybersecurity risk, not an abstract issue.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Risque quotidien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Solution that works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Solution démontrable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 judge can paste any message and immediately see: class, confidence, risk cues and safety advice.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Résultat immédiat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874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1554480"/>
            <a:ext cx="26060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Impact beyond the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1856232"/>
            <a:ext cx="26060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Impact durable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2103120"/>
            <a:ext cx="2606040" cy="10058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The app teaches users how to recognize scams, which makes it useful for schools, families and communities.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2862072"/>
            <a:ext cx="26060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Éducation cyber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86200"/>
            <a:ext cx="3108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CE1126"/>
                </a:solidFill>
                <a:latin typeface="Aptos"/>
              </a:defRPr>
            </a:pPr>
            <a:r>
              <a:t>One-sentence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279392"/>
            <a:ext cx="1042416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500" b="1" i="0">
                <a:solidFill>
                  <a:srgbClr val="0F172A"/>
                </a:solidFill>
                <a:latin typeface="Aptos"/>
              </a:defRPr>
            </a:pPr>
            <a:r>
              <a:t>“We help people detect SMS scams before they click, pay, or share secrets — and we explain the warning signs in plain language.”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38928"/>
            <a:ext cx="9418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« Nous aidons les personnes à détecter les arnaques SMS avant de cliquer, payer ou partager un code secret — avec des explications simples. 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Problem: scams exploit human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Problème: les arnaques exploitent le comportement humain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697480" cy="12801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Fear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Déclencheur peur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“Your account will be blocked.”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« Compte bloqué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417320"/>
            <a:ext cx="2697480" cy="128016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141732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Reward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Déclencheur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“You won a prize / bonus.”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« Vous avez gagné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1417320"/>
            <a:ext cx="269748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1554480"/>
            <a:ext cx="18745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Authority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1856232"/>
            <a:ext cx="18745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Autorité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103120"/>
            <a:ext cx="1874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“Bank / telecom / tax office.”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2313432"/>
            <a:ext cx="1874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Banque/opérateur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1417320"/>
            <a:ext cx="2057400" cy="12801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14173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606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1554480"/>
            <a:ext cx="1234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Secrecy trigger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1856232"/>
            <a:ext cx="123444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Secret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103120"/>
            <a:ext cx="123444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“Send PIN / OTP.”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2313432"/>
            <a:ext cx="1234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PIN / OTP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246120"/>
            <a:ext cx="3840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users need help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03320"/>
            <a:ext cx="466344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Scam SMS are short, emotional and action-oriented.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Attackers use local channels people already trust.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Even a smart user can be fooled when the message feels urgent.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 good tool must be fast, clear and explainable.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246120"/>
            <a:ext cx="3840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 i="1">
                <a:solidFill>
                  <a:srgbClr val="64748B"/>
                </a:solidFill>
                <a:latin typeface="Aptos"/>
              </a:defRPr>
            </a:pPr>
            <a:r>
              <a:t>Ce que l’outil doit faire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703320"/>
            <a:ext cx="457200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Detect: classify the message.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Explain: show warning signs.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Advise: tell the user what not to do.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Educate: build cyber awareness over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Live demo flow: under 60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Démo live: moins de 60 secondes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78892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536192"/>
            <a:ext cx="2569463" cy="341985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9928"/>
            <a:ext cx="2203703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 i="0">
                <a:solidFill>
                  <a:srgbClr val="64748B"/>
                </a:solidFill>
                <a:latin typeface="Aptos"/>
              </a:defRPr>
            </a:pPr>
            <a:r>
              <a:t>Incoming SMS / SMS reçu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2075688"/>
            <a:ext cx="2203703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196596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80" b="0" i="0">
                <a:solidFill>
                  <a:srgbClr val="0F172A"/>
                </a:solidFill>
                <a:latin typeface="Aptos"/>
              </a:defRPr>
            </a:pPr>
            <a:r>
              <a:t>Orange Money account blocked. Verify immediately: https://om-secure-login.com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3447287"/>
            <a:ext cx="2203703" cy="475488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66160"/>
            <a:ext cx="2203703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SMISHING · 91%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34440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234440"/>
            <a:ext cx="73152" cy="7863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136245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1371600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1. Paste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673352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Coller le 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920240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User inputs the message.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020824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51960" y="2267712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267712"/>
            <a:ext cx="73152" cy="7863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2395728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2404872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2. 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2706624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Prédire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953512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returns safe / spam / smishing.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72000" y="3054096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51960" y="3300984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300984"/>
            <a:ext cx="73152" cy="7863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8264" y="3429000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438144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3. 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0328" y="3739896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Expliquer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0328" y="3986783"/>
            <a:ext cx="5715000" cy="-36575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App highlights risky cues.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0" y="4087368"/>
            <a:ext cx="0" cy="19202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251960" y="4334256"/>
            <a:ext cx="65379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51960" y="4334256"/>
            <a:ext cx="73152" cy="786384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8264" y="4462272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10328" y="4471416"/>
            <a:ext cx="57150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4. Advise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0328" y="4773168"/>
            <a:ext cx="571500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Conseiller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5020056"/>
            <a:ext cx="5715000" cy="-3657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User gets a simple safety action.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532120"/>
            <a:ext cx="6492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 i="0">
                <a:solidFill>
                  <a:srgbClr val="0F172A"/>
                </a:solidFill>
                <a:latin typeface="Aptos"/>
              </a:defRPr>
            </a:pPr>
            <a:r>
              <a:t>Judge experience: visible product, understandable AI, clear local relevance.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897880"/>
            <a:ext cx="61264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0" i="1">
                <a:solidFill>
                  <a:srgbClr val="64748B"/>
                </a:solidFill>
                <a:latin typeface="Aptos"/>
              </a:defRPr>
            </a:pPr>
            <a:r>
              <a:t>Expérience jury: produit visible, IA compréhensible, pertinence locale claire.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Data strategy: from prototype to robust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Stratégie données: du prototype au produit robuste</a:t>
            </a:r>
          </a:p>
        </p:txBody>
      </p:sp>
      <p:pic>
        <p:nvPicPr>
          <p:cNvPr id="8" name="Picture 7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498348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54480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Current prototype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56232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Dataset actuel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103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30 labeled SMS examples for fast offline demo: ham, spam and smishing.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47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Démonstration rapide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60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560320"/>
            <a:ext cx="73152" cy="9144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697479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Competition-ready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999232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Extension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246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Replace with the referenced Mendeley/public dataset + anonymized Cameroon examples.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090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publiques + locales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03320"/>
            <a:ext cx="5257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73152" cy="9144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840480"/>
            <a:ext cx="49103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Ethics and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42231"/>
            <a:ext cx="49103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Éthique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389120"/>
            <a:ext cx="4910328" cy="91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No real phone numbers, no personal data, no live phishing links; anonymize before training.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233672"/>
            <a:ext cx="49103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Anonymisation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107442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489204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029200"/>
            <a:ext cx="10396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Label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5330952"/>
            <a:ext cx="10396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Conception des classes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577840"/>
            <a:ext cx="10396728" cy="-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3-class view for insight: ham vs spam vs smishing. Optional 2-class view for users: safe vs scam.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193792"/>
            <a:ext cx="1039672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3 classes pour l’analyse, 2 classes pour simplifier l’usage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Exploratory analytics: scams have measurable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Analyse exploratoire: les arnaques ont des signaux mesurables</a:t>
            </a:r>
          </a:p>
        </p:txBody>
      </p:sp>
      <p:pic>
        <p:nvPicPr>
          <p:cNvPr id="8" name="Picture 7" descr="risk_signal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577840" cy="3063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371600"/>
            <a:ext cx="41148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1" i="0">
                <a:solidFill>
                  <a:srgbClr val="0F172A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389120" cy="14173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Smishing messages often combine several weak signals into one strong risk pattern.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URL + urgency + money context is more suspicious than any single word alone.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This is why we combine text features and structural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20440"/>
            <a:ext cx="43891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00" b="0" i="1">
                <a:solidFill>
                  <a:srgbClr val="64748B"/>
                </a:solidFill>
                <a:latin typeface="Aptos"/>
              </a:defRPr>
            </a:pPr>
            <a:r>
              <a:t>Insight clé: le risque vient souvent de la combinaison des indices, pas d’un seul mot.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251960"/>
            <a:ext cx="438912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4251960"/>
            <a:ext cx="73152" cy="9601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4389120"/>
            <a:ext cx="404164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Design 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4690872"/>
            <a:ext cx="404164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Implication produit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4937760"/>
            <a:ext cx="404164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The app should explain combined risk: “link + urgency + PIN request”.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828032"/>
            <a:ext cx="404164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Expliquer les combinaisons de risque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Model architecture: lightweight, explainable, deployable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Architecture: légère, explicable, déployable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SMS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Texte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2316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828800"/>
            <a:ext cx="73152" cy="11430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Nettoyage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4340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82880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TF‑IDF words + bigrams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Mots + bigrammes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25" name="Connector 24"/>
          <p:cNvCxnSpPr/>
          <p:nvPr/>
        </p:nvCxnSpPr>
        <p:spPr>
          <a:xfrm>
            <a:off x="5943600" y="2395728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6364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82880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7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Structural risk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7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Signaux de risque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31" name="Connector 30"/>
          <p:cNvCxnSpPr/>
          <p:nvPr/>
        </p:nvCxnSpPr>
        <p:spPr>
          <a:xfrm>
            <a:off x="7863840" y="2395728"/>
            <a:ext cx="320039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22960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828800"/>
            <a:ext cx="73152" cy="11430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076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Régression logistique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2395728"/>
            <a:ext cx="2286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104120" y="182880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4120" y="1828800"/>
            <a:ext cx="73152" cy="114300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5288" y="1965960"/>
            <a:ext cx="125272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Prediction + Explanation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267712"/>
            <a:ext cx="125272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Prédiction + explication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5288" y="2514600"/>
            <a:ext cx="1252728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Feature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069080"/>
            <a:ext cx="539496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Text: TF‑IDF unigrams and bigrams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Structure: URL, phone, email, digits, punctuation, length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Semantics: urgency, reward, threat, money, PIN/OTP keywords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Output: class probabilities + risk indicators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657600"/>
            <a:ext cx="3474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not a black-box model?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69080"/>
            <a:ext cx="4389120" cy="13716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Runs on a normal laptop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Can work offline during the pitch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Easy to retrain with better data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Easier for judges and users to trust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Evaluation snapshot and what we optimize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Évaluation et objectif d’amélioration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2563EB"/>
                </a:solidFill>
                <a:latin typeface="Aptos"/>
              </a:defRPr>
            </a:pPr>
            <a: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Exactitude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007A3F"/>
                </a:solidFill>
                <a:latin typeface="Aptos"/>
              </a:defRPr>
            </a:pPr>
            <a:r>
              <a:t>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Précision macro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F59E0B"/>
                </a:solidFill>
                <a:latin typeface="Aptos"/>
              </a:defRPr>
            </a:pPr>
            <a:r>
              <a:t>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Rappel macro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7C3AED"/>
                </a:solidFill>
                <a:latin typeface="Aptos"/>
              </a:defRPr>
            </a:pPr>
            <a:r>
              <a:t>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F1 macro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3258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2011680" cy="43891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 i="0">
                <a:solidFill>
                  <a:srgbClr val="CE1126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47672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980" b="1" i="0">
                <a:solidFill>
                  <a:srgbClr val="1E293B"/>
                </a:solidFill>
                <a:latin typeface="Aptos"/>
              </a:defRPr>
            </a:pPr>
            <a:r>
              <a:t>Missed scams in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221991"/>
            <a:ext cx="19202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Aptos"/>
              </a:defRPr>
            </a:pPr>
            <a:r>
              <a:t>Scams ratés au test</a:t>
            </a:r>
          </a:p>
        </p:txBody>
      </p:sp>
      <p:pic>
        <p:nvPicPr>
          <p:cNvPr id="28" name="Picture 27" descr="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0"/>
            <a:ext cx="2880360" cy="2240280"/>
          </a:xfrm>
          <a:prstGeom prst="rect">
            <a:avLst/>
          </a:prstGeom>
        </p:spPr>
      </p:pic>
      <p:pic>
        <p:nvPicPr>
          <p:cNvPr id="29" name="Picture 2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788920"/>
            <a:ext cx="2606040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7960" y="2971800"/>
            <a:ext cx="45720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How we will improve after adding real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429000"/>
            <a:ext cx="4480560" cy="1600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Optimize recall for smishing: missing a scam is more dangerous than a false alarm.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Use stratified train/test split and class-by-class error review.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Add Cameroon-specific examples: Mobile Money, school fees, parcel delivery, fake grants.</a:t>
            </a:r>
          </a:p>
          <a:p>
            <a:pPr>
              <a:spcAft>
                <a:spcPts val="5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Calibrate thresholds for “high risk” warnings.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321808"/>
            <a:ext cx="448056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19" b="0" i="1">
                <a:solidFill>
                  <a:srgbClr val="64748B"/>
                </a:solidFill>
                <a:latin typeface="Aptos"/>
              </a:defRPr>
            </a:pPr>
            <a:r>
              <a:t>Note: current metrics and charts are regenerated after training, so this slide reflects the latest model artifacts.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Explainability is our trust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L’explicabilité est notre avantage de confiance</a:t>
            </a:r>
          </a:p>
        </p:txBody>
      </p:sp>
      <p:pic>
        <p:nvPicPr>
          <p:cNvPr id="8" name="Picture 7" descr="risk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07492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234440"/>
            <a:ext cx="5120640" cy="9601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34440"/>
            <a:ext cx="73152" cy="9601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371600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673352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Sortie 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20240"/>
            <a:ext cx="477316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Prediction: SMISHING · Confidence: 91% · Action: do not click, verify through official 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10512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Ne pas cliquer, vérifier officiellement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395728"/>
            <a:ext cx="5120640" cy="96012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2395728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532888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flagged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834640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081528"/>
            <a:ext cx="4773168" cy="137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Contains a link, urgency, account-pressure language and money/account context.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971800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Lien + urgence + compte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566160"/>
            <a:ext cx="512064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566160"/>
            <a:ext cx="73152" cy="96012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703320"/>
            <a:ext cx="477316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judges should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005072"/>
            <a:ext cx="477316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 c’est 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51960"/>
            <a:ext cx="4773168" cy="13715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This turns AI from a hidden score into a cyber-awareness coach.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142232"/>
            <a:ext cx="477316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IA + éducation cyber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200" b="1" i="0">
                <a:solidFill>
                  <a:srgbClr val="0F172A"/>
                </a:solidFill>
                <a:latin typeface="Aptos"/>
              </a:defRPr>
            </a:pPr>
            <a:r>
              <a:t>Winning point: We are not only detecting scams — we are teaching people how scams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23560"/>
            <a:ext cx="99669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100" b="0" i="1">
                <a:solidFill>
                  <a:srgbClr val="64748B"/>
                </a:solidFill>
                <a:latin typeface="Aptos"/>
              </a:defRPr>
            </a:pPr>
            <a:r>
              <a:t>Point gagnant: nous ne faisons pas seulement une prédiction, nous formons les utilisateurs aux réflexes cybersécurité.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Product experience: designed for real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Expérience produit: pensée pour les vrais utilisateurs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2743200" cy="3886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536192"/>
            <a:ext cx="2523744" cy="3465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09928"/>
            <a:ext cx="2157984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30" b="1" i="0">
                <a:solidFill>
                  <a:srgbClr val="64748B"/>
                </a:solidFill>
                <a:latin typeface="Aptos"/>
              </a:defRPr>
            </a:pPr>
            <a:r>
              <a:t>Incoming SMS / SMS reçu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2075688"/>
            <a:ext cx="2157984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94560"/>
            <a:ext cx="1920240" cy="868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980" b="0" i="0">
                <a:solidFill>
                  <a:srgbClr val="0F172A"/>
                </a:solidFill>
                <a:latin typeface="Aptos"/>
              </a:defRPr>
            </a:pPr>
            <a:r>
              <a:t>Votre compte sera suspendu. Confirmez ici: http://banque-verif.net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" y="3447287"/>
            <a:ext cx="2157984" cy="475488"/>
          </a:xfrm>
          <a:prstGeom prst="round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566160"/>
            <a:ext cx="2157984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3258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4" y="145389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1463039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Simple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76479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Interface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7" y="2011680"/>
            <a:ext cx="2560320" cy="4114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Text box, sample messages and one-click analysis. No technical knowledge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2176272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Aucune expertise requise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132588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1325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72983" y="145389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59E0B"/>
                </a:solidFill>
                <a:latin typeface="Aptos"/>
              </a:defRPr>
            </a:pPr>
            <a: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1463039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Clear colors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176479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Couleurs claires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011680"/>
            <a:ext cx="2560320" cy="41147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Green for safe, amber for spam, red for smishing. The risk is visible instantly.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176272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Risque visible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29718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2971800"/>
            <a:ext cx="73152" cy="123444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23944" y="309981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CM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7" y="3108960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Local examples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7" y="341071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Exemples locaux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7" y="3657600"/>
            <a:ext cx="25603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French and English messages with Mobile Money and Cameroon-relevant scams.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7" y="3822191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FR/EN Cameroun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297180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297180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72983" y="309981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3108960"/>
            <a:ext cx="25603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Offline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8" y="3410712"/>
            <a:ext cx="25603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Backup hors ligne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657600"/>
            <a:ext cx="256032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artifacts are saved; demo can run from a clean environment without internet.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8" y="3822191"/>
            <a:ext cx="25603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sécurisée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77639" y="4617720"/>
            <a:ext cx="713232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77639" y="4617720"/>
            <a:ext cx="73152" cy="77724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8807" y="4754880"/>
            <a:ext cx="6784848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Accessibility next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8807" y="5056631"/>
            <a:ext cx="678484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Prochaine accessibilité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8807" y="5303520"/>
            <a:ext cx="6784848" cy="-45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Add voice guidance and simple French/English safety tips for younger users and families.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8807" y="5010912"/>
            <a:ext cx="6784848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Conseils vocaux et bilingues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Impact plan: from hackathon demo to community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Plan d’impact: de la démo à la protection communautaire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60320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2563EB"/>
                </a:solidFill>
                <a:latin typeface="Aptos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Utilisateurs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Students, parents, small business owners, Mobile Money users.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Élèves, familles, commerçantes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417320"/>
            <a:ext cx="2560320" cy="1417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417320"/>
            <a:ext cx="73152" cy="141732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674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Pilot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Canal pilote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CGIS workshops, school clubs, campus cybersecurity awareness.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Ateliers et clubs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417320"/>
            <a:ext cx="2560320" cy="14173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41732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138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7C3AED"/>
                </a:solidFill>
                <a:latin typeface="Aptos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1554480"/>
            <a:ext cx="17373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Success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1856232"/>
            <a:ext cx="1737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Métriques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2103120"/>
            <a:ext cx="17373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Scam recall, false alarm rate, user understanding, demo adoption.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450592"/>
            <a:ext cx="17373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Rappel, faux positifs, adoption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417320"/>
            <a:ext cx="2331720" cy="1417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417320"/>
            <a:ext cx="73152" cy="141732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1545336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1554480"/>
            <a:ext cx="15087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Partners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8088" y="1856232"/>
            <a:ext cx="1508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Partenaires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103120"/>
            <a:ext cx="15087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Schools, women in STEAM groups, telecom/cybersecurity mentors.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2450592"/>
            <a:ext cx="15087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Écoles, mentors, télécoms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657600"/>
            <a:ext cx="36576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 i="0">
                <a:solidFill>
                  <a:srgbClr val="0F172A"/>
                </a:solidFill>
                <a:latin typeface="Aptos"/>
              </a:defRPr>
            </a:pPr>
            <a:r>
              <a:t>Why this fits CGIS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41648"/>
            <a:ext cx="493776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STEAM: data science + app design + social impact.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Leadership: young women solving a local cyber problem.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Entrepreneurship: can become a safety product, training tool or API.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57600"/>
            <a:ext cx="32004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500" b="1" i="1">
                <a:solidFill>
                  <a:srgbClr val="64748B"/>
                </a:solidFill>
                <a:latin typeface="Aptos"/>
              </a:defRPr>
            </a:pPr>
            <a:r>
              <a:t>Pourquoi CGIS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41648"/>
            <a:ext cx="4663440" cy="11430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Compétences techniques visibles.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Projet utile immédiatement.</a:t>
            </a:r>
          </a:p>
          <a:p>
            <a:pPr>
              <a:spcAft>
                <a:spcPts val="500"/>
              </a:spcAft>
              <a:defRPr sz="1450">
                <a:solidFill>
                  <a:srgbClr val="1E293B"/>
                </a:solidFill>
                <a:latin typeface="Aptos"/>
              </a:defRPr>
            </a:pPr>
            <a:r>
              <a:t>Message fort: les filles construisent la cybersécurité locale.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38912"/>
            <a:ext cx="1088136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100" b="1" i="0">
                <a:solidFill>
                  <a:srgbClr val="0F172A"/>
                </a:solidFill>
                <a:latin typeface="Aptos"/>
              </a:defRPr>
            </a:pPr>
            <a:r>
              <a:t>Roadmap: realistic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50976"/>
            <a:ext cx="1051560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250" b="0" i="1">
                <a:solidFill>
                  <a:srgbClr val="64748B"/>
                </a:solidFill>
                <a:latin typeface="Aptos"/>
              </a:defRPr>
            </a:pPr>
            <a:r>
              <a:t>Feuille de route: prochaines étapes réalistes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Aujourd’hui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Live demo +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Démo + explications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6392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02152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2152" y="1600200"/>
            <a:ext cx="73152" cy="260604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7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Add verified dataset + more local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vérifiées + local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2744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18504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18504" y="1600200"/>
            <a:ext cx="73152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14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14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Threshold tuning + French/English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Seuils + évaluation FR/EN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9096" y="2880360"/>
            <a:ext cx="329184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34856" y="1600200"/>
            <a:ext cx="245059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1600200"/>
            <a:ext cx="73152" cy="260604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1737360"/>
            <a:ext cx="210312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30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039112"/>
            <a:ext cx="21031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30 jours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6024" y="2286000"/>
            <a:ext cx="2103120" cy="1783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Pilot awareness session at a school/club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4" y="3822191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Pilote école/club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Technical backlog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38928"/>
            <a:ext cx="4754880" cy="822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Model comparison: Logistic Regression vs SVM vs Naive Bayes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Better calibration for high-risk warnings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Continuous update with new scam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00600"/>
            <a:ext cx="29260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Aptos"/>
              </a:defRPr>
            </a:pPr>
            <a:r>
              <a:t>Impact backlog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138928"/>
            <a:ext cx="4754880" cy="8229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Bilingual user education cards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Offline deployment package</a:t>
            </a:r>
          </a:p>
          <a:p>
            <a:pPr>
              <a:spcAft>
                <a:spcPts val="500"/>
              </a:spcAft>
              <a:defRPr sz="1280">
                <a:solidFill>
                  <a:srgbClr val="1E293B"/>
                </a:solidFill>
                <a:latin typeface="Aptos"/>
              </a:defRPr>
            </a:pPr>
            <a:r>
              <a:t>Partner feedback from cyber mentors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85953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CGIS · Yaoundé Girls in STEAM Hackathon · SMS Scam 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73952"/>
            <a:ext cx="3657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50" b="0" i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900" cy="73152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900" cy="7315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900" cy="73152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32918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 i="0">
                <a:solidFill>
                  <a:srgbClr val="FCD116"/>
                </a:solidFill>
                <a:latin typeface="Aptos"/>
              </a:defRPr>
            </a:pPr>
            <a:r>
              <a:t>Final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058400" cy="7772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ptos"/>
              </a:defRPr>
            </a:pPr>
            <a:r>
              <a:t>Help us turn SMS safety into a habit.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96012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900" b="0" i="0">
                <a:solidFill>
                  <a:srgbClr val="E2E8F0"/>
                </a:solidFill>
                <a:latin typeface="Aptos"/>
              </a:defRPr>
            </a:pPr>
            <a:r>
              <a:t>With better data, mentorship and field testing, this prototype can become a practical cyber-safety assistant for communities in Cameroon.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9601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1">
                <a:solidFill>
                  <a:srgbClr val="CBD5E1"/>
                </a:solidFill>
                <a:latin typeface="Aptos"/>
              </a:defRPr>
            </a:pPr>
            <a:r>
              <a:t>Avec plus de données, de mentorat et de tests terrain, ce prototype peut devenir un assistant de prévention utile pour les communautés au Cameroun.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73152" cy="1097280"/>
          </a:xfrm>
          <a:prstGeom prst="rect">
            <a:avLst/>
          </a:prstGeom>
          <a:solidFill>
            <a:srgbClr val="FCD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FCD116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What we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Ce que nous avons construit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Model + app + explanations + demo script.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Modèle + app + explications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73152" cy="1097280"/>
          </a:xfrm>
          <a:prstGeom prst="rect">
            <a:avLst/>
          </a:prstGeom>
          <a:solidFill>
            <a:srgbClr val="0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007A3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What we need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Ce dont nous avons besoin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Data access, cyber mentors and pilot users.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Données + mentors + pilotes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931920"/>
            <a:ext cx="32461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3931920"/>
            <a:ext cx="73152" cy="109728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47304" y="4059935"/>
            <a:ext cx="457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 i="0">
                <a:solidFill>
                  <a:srgbClr val="CE112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4069080"/>
            <a:ext cx="242316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50" b="1" i="0">
                <a:solidFill>
                  <a:srgbClr val="0F172A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4370831"/>
            <a:ext cx="242316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Pourquoi maintenant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4617720"/>
            <a:ext cx="2423160" cy="274319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Scams evolve fast; education must be fast too.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4645152"/>
            <a:ext cx="2423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  <a:latin typeface="Aptos"/>
              </a:defRPr>
            </a:pPr>
            <a:r>
              <a:t>Les arnaques évoluent vite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64008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400" b="1" i="0">
                <a:solidFill>
                  <a:srgbClr val="FCD116"/>
                </a:solidFill>
                <a:latin typeface="Aptos"/>
              </a:defRPr>
            </a:pPr>
            <a:r>
              <a:t>Thank you · Merci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